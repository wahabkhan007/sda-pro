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74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RIPHAH INTERNATIONAL UNIVERSITY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600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2A4A"/>
                </a:solidFill>
              </a:rPr>
              <a:t>SDA-Pro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49808" y="2331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Security Incident Response &amp; Threat Mitigation Platform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57607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Semester Project Presentation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SE3213 – Software Design and Architecture | Spring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38404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14800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Console Prototype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4114800"/>
            <a:ext cx="23317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Architect UML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4114800"/>
            <a:ext cx="20116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Design 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4937760"/>
            <a:ext cx="34747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Presented by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Abdul Wahab Khan (55072)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Rohail Abbas (54729)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err="1">
                <a:solidFill>
                  <a:srgbClr val="111827"/>
                </a:solidFill>
              </a:rPr>
              <a:t>Ziafat</a:t>
            </a:r>
            <a:r>
              <a:rPr lang="en-US" sz="1150" dirty="0">
                <a:solidFill>
                  <a:srgbClr val="111827"/>
                </a:solidFill>
              </a:rPr>
              <a:t> Hussain (55062)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WHAT THIS DECK COVERS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Presentation Roadmap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329184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Problem &amp; Project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502920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System Flow &amp; Architecture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008376"/>
            <a:ext cx="502920" cy="329184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00837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Architecture Styles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666744"/>
            <a:ext cx="502920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6667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Design Patterns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325112"/>
            <a:ext cx="502920" cy="329184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3251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Implementation Packages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502920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49834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ADRs, APIs, UML &amp; Demo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374904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WHY SDA-PRO EXISTS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Project Context &amp; Scope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5778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Security Operations Centers receive alerts from many tools. SDA-Pro turns those noisy signals into normalized, enriched, grouped, and actionable incidents.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52120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Ingests mock Splunk SIEM and Palo Alto Firewall alerts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Normalizes heterogeneous formats into CanonicalAlert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Groups related alerts into campaigns/clusters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Creates incidents and controls lifecycle states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Executes secure, audited response actions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Publishes updates to dashboard, audit, notification and metrics modules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12280" y="1554480"/>
            <a:ext cx="320040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SOC Pipeline Focus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365760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907792"/>
            <a:ext cx="3657600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Enrich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3666744"/>
            <a:ext cx="365760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4425696"/>
            <a:ext cx="365760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5440680"/>
            <a:ext cx="3657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A clean Java prototype keeps architecture and pattern usage easy to verify during code review and viva.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DELIVERABLES MAPPED TO COURSE REQUIREMENTS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Core Project 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514600" cy="320040"/>
          </a:xfrm>
          <a:prstGeom prst="rect">
            <a:avLst/>
          </a:prstGeom>
          <a:solidFill>
            <a:srgbClr val="EFF4F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2514600" cy="1481328"/>
          </a:xfrm>
          <a:prstGeom prst="rect">
            <a:avLst/>
          </a:prstGeom>
          <a:solidFill>
            <a:srgbClr val="EFF4FB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2 mock alert sources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Adapter + Factory Method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Canonical model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3520440" y="1508760"/>
            <a:ext cx="251460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Enrichment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856232"/>
            <a:ext cx="251460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Deduplication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GeoIP + Threat Intel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Asset context + classification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2514600" cy="320040"/>
          </a:xfrm>
          <a:prstGeom prst="rect">
            <a:avLst/>
          </a:prstGeom>
          <a:solidFill>
            <a:srgbClr val="EFF4F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Incident Lifecycle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856232"/>
            <a:ext cx="2514600" cy="1481328"/>
          </a:xfrm>
          <a:prstGeom prst="rect">
            <a:avLst/>
          </a:prstGeom>
          <a:solidFill>
            <a:srgbClr val="EFF4FB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Composite alert groups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State machine lifecycle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New → Closed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9098280" y="1508760"/>
            <a:ext cx="251460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98280" y="1856232"/>
            <a:ext cx="251460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Strategy selection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Factory actions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Decorator + Proxy + Facade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1417320" y="3977640"/>
            <a:ext cx="416052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325112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Architecture Decision Records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API contracts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UML class/component/sequence/state diagrams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416052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Working Demo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325112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MainDemo.java console output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WebDashboardServer.java optional dashboard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End-to-end pipeline verification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FROM RAW ALERT TO AUDITED RESPONSE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End-to-End System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19202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Sources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50592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691640"/>
            <a:ext cx="19202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82312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6360" y="1691640"/>
            <a:ext cx="192024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Normalizer Factory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14032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1691640"/>
            <a:ext cx="19202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Alert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45752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29800" y="1691640"/>
            <a:ext cx="19202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 Group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192024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Enrichment Chain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50592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3200400"/>
            <a:ext cx="19202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Intel Proxy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82312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3200400"/>
            <a:ext cx="19202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4032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3200400"/>
            <a:ext cx="192024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Facade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45752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29800" y="3200400"/>
            <a:ext cx="19202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EventBus Observers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61320" y="23317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4956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The flow intentionally exercises all major architecture patterns in one traceable SOC scenario.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557784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Output confirms each stage with labelled console messages: [Adapter], [Factory Method], [Composite], [Chain], [Proxy], [State], [Strategy], [Decorator], [Facade], [Observer].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FOUR STYLES COMBINED IN ONE PROTOTYPE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Architecture Styles Applied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23160" y="1645920"/>
            <a:ext cx="3566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Major SOC capabilities separated as service classes with clear API boundaries.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892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</a:rPr>
              <a:t>MVC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3749040"/>
            <a:ext cx="3566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DashboardModel, DashboardView, and DashboardController separate data, display, and interaction.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4892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Layered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01000" y="1645920"/>
            <a:ext cx="3566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Adapter → service → domain → repository/cache layers keep dependencies clean.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4892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</a:rPr>
              <a:t>Event-Driven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01000" y="3749040"/>
            <a:ext cx="3566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EventBusPublisher decouples producers from dashboard, audit, notification, and metrics subscribers.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0" y="4663440"/>
            <a:ext cx="4892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623560"/>
            <a:ext cx="9418320" cy="475488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Architecture rule: keep the prototype simple to run, but structured enough to demonstrate real enterprise design principles.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PURPOSEFUL PATTERN USAGE, NOT DECORATION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12 Design Patterns in SDA-Pro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0632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Creational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3063240" cy="1892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Singleton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Factory Method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Abstract Factory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Structural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947672"/>
            <a:ext cx="3063240" cy="1892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Composite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Adapter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Proxy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Decorator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Facade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8275320" y="1600200"/>
            <a:ext cx="30632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Behavioral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1947672"/>
            <a:ext cx="3063240" cy="18928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Chain of Responsibility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State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Strategy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</a:rPr>
              <a:t>Observer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146304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5193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implemented patterns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20640" y="5193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architecture styles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778240" y="5193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ADR documents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WHERE EACH PATTERN APPEARS IN CODE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Pattern Implementation 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194560" cy="30175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Singleton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7772400" cy="301752"/>
          </a:xfrm>
          <a:prstGeom prst="rect">
            <a:avLst/>
          </a:prstGeom>
          <a:solidFill>
            <a:srgbClr val="EFF4FB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IngestionConfigManager</a:t>
            </a:r>
            <a:r>
              <a:rPr lang="en-US" sz="1180" dirty="0">
                <a:solidFill>
                  <a:srgbClr val="111827"/>
                </a:solidFill>
              </a:rPr>
              <a:t>, ThreatIntelCache, EventBusPublisher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2194560" cy="3017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Factory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938528"/>
            <a:ext cx="7772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AlertNormalizerFactory</a:t>
            </a:r>
            <a:r>
              <a:rPr lang="en-US" sz="1180" dirty="0">
                <a:solidFill>
                  <a:srgbClr val="111827"/>
                </a:solidFill>
              </a:rPr>
              <a:t>, ResponseActionFactory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822960" y="2459736"/>
            <a:ext cx="2194560" cy="30175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Composite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459736"/>
            <a:ext cx="7772400" cy="301752"/>
          </a:xfrm>
          <a:prstGeom prst="rect">
            <a:avLst/>
          </a:prstGeom>
          <a:solidFill>
            <a:srgbClr val="EFF4FB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SingleAlert</a:t>
            </a:r>
            <a:r>
              <a:rPr lang="en-US" sz="1180" dirty="0">
                <a:solidFill>
                  <a:srgbClr val="111827"/>
                </a:solidFill>
              </a:rPr>
              <a:t>, AlertCampaign, IncidentCluster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22960" y="2980944"/>
            <a:ext cx="2194560" cy="3017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Adapter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2980944"/>
            <a:ext cx="7772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SplunkAdapter</a:t>
            </a:r>
            <a:r>
              <a:rPr lang="en-US" sz="1180" dirty="0">
                <a:solidFill>
                  <a:srgbClr val="111827"/>
                </a:solidFill>
              </a:rPr>
              <a:t>, FirewallAdapter, VirusTotalAdapter, MISPAdapter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22960" y="3502152"/>
            <a:ext cx="2194560" cy="30175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Proxy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3502152"/>
            <a:ext cx="7772400" cy="301752"/>
          </a:xfrm>
          <a:prstGeom prst="rect">
            <a:avLst/>
          </a:prstGeom>
          <a:solidFill>
            <a:srgbClr val="EFF4FB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CachingThreatIntelProxy</a:t>
            </a:r>
            <a:r>
              <a:rPr lang="en-US" sz="1180" dirty="0">
                <a:solidFill>
                  <a:srgbClr val="111827"/>
                </a:solidFill>
              </a:rPr>
              <a:t>, AuthorizedResponseActionProxy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2194560" cy="3017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 / Strategy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4023360"/>
            <a:ext cx="7772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IncidentState</a:t>
            </a:r>
            <a:r>
              <a:rPr lang="en-US" sz="1180" dirty="0">
                <a:solidFill>
                  <a:srgbClr val="111827"/>
                </a:solidFill>
              </a:rPr>
              <a:t> classes, Aggressive/Conservative strategies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22960" y="4544568"/>
            <a:ext cx="2194560" cy="30175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Decorator / Facade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4544568"/>
            <a:ext cx="7772400" cy="301752"/>
          </a:xfrm>
          <a:prstGeom prst="rect">
            <a:avLst/>
          </a:prstGeom>
          <a:solidFill>
            <a:srgbClr val="EFF4FB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AuditLog</a:t>
            </a:r>
            <a:r>
              <a:rPr lang="en-US" sz="1180" dirty="0">
                <a:solidFill>
                  <a:srgbClr val="111827"/>
                </a:solidFill>
              </a:rPr>
              <a:t>, ApprovalGate, Rollback, Metrics, IncidentResponseFacade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22960" y="5065776"/>
            <a:ext cx="2194560" cy="3017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5065776"/>
            <a:ext cx="7772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 </a:t>
            </a:r>
            <a:r>
              <a:rPr lang="en-US" sz="1180" dirty="0" err="1">
                <a:solidFill>
                  <a:srgbClr val="111827"/>
                </a:solidFill>
              </a:rPr>
              <a:t>DashboardUpdater</a:t>
            </a:r>
            <a:r>
              <a:rPr lang="en-US" sz="1180" dirty="0">
                <a:solidFill>
                  <a:srgbClr val="111827"/>
                </a:solidFill>
              </a:rPr>
              <a:t>, AuditLogger, NotificationDispatcher, MetricsCollector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CLEAN PACKAGE RESPONSIBILITIES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Implementation Package 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src/ingestion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43560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Adapters, normalizers, ingestion service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075688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src/enrichment/pipeline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Chain handlers for dedup, geo-IP, threat intel, asset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75304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src/threatintel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3593592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Adapters, proxy, cache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233672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54296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src/incident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672584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Incident model and lifecycle state machine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5312664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src/response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143560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Strategies, actions, decorators, proxy, facade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2075688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src/events + 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Event bus observers and MVC dashboard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154680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575304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src/audit + notification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3593592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Audit service and abstract notification factory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4233672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654296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src/shared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78240" y="4672584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Domain models and utilities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5312664"/>
            <a:ext cx="5074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VALID TRANSITIONS ONLY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Incident Lifecycle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13716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585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2057400"/>
            <a:ext cx="13716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3308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2057400"/>
            <a:ext cx="13716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0760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13716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ERADICATION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8212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057400"/>
            <a:ext cx="13716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5664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49840" y="2057400"/>
            <a:ext cx="137160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794760"/>
            <a:ext cx="10149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Each Incident delegates transition logic to its current IncidentState implementation. Illegal jumps are blocked by the state class itself.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48006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• Prevents lifecycle errors such as skipping containment or reopening closed incidents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• Keeps transition behavior encapsulated inside state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• Makes the state machine easy to explain through UML and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STRATEGY + FACTORY + DECORATOR + PROXY + FACADE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Response Orchestration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6916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Select response plan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1460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4952" y="1828800"/>
            <a:ext cx="169164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4952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Create actions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82312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12664" y="1828800"/>
            <a:ext cx="16916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12664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Add audit, approval, rollback, metrics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50024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0376" y="1828800"/>
            <a:ext cx="16916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0376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Authorize analyst role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17736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48088" y="1828800"/>
            <a:ext cx="16916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Facade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48088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Simplify orchestration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475488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Aggressive Strategy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416552"/>
            <a:ext cx="4754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 For HIGH / CRITICAL severity: block IP, isolate endpoint, force password reset.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475488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Conservative Strategy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416552"/>
            <a:ext cx="4754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 For MEDIUM severity: lower-disruption actions while keeping audit and  monitoring.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ARCHITECTURE DECISIONS ARE DOCUMENTED AND TESTABLE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ADRs &amp; API Contracts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</a:rPr>
              <a:t>Architecture Decision Records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ADR-001 SOA vs Microservices vs Modular Monolith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58568"/>
            <a:ext cx="5029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ADR-002 Synchronous vs Asynchronous Communication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670048"/>
            <a:ext cx="5029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ADR-003 Database Strategy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081528"/>
            <a:ext cx="5029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ADR-004 Threat Intelligence Caching Strategy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493008"/>
            <a:ext cx="5029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ADR-005 Real-Time Push Strategy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Service API Contracts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3977640" cy="292608"/>
          </a:xfrm>
          <a:prstGeom prst="rect">
            <a:avLst/>
          </a:prstGeom>
          <a:solidFill>
            <a:srgbClr val="EFF4FB"/>
          </a:solidFill>
          <a:ln w="12700">
            <a:solidFill>
              <a:srgbClr val="EFF4F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/alerts/ingest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3977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/incidents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0" y="2724912"/>
            <a:ext cx="3977640" cy="292608"/>
          </a:xfrm>
          <a:prstGeom prst="rect">
            <a:avLst/>
          </a:prstGeom>
          <a:solidFill>
            <a:srgbClr val="EFF4FB"/>
          </a:solidFill>
          <a:ln w="12700">
            <a:solidFill>
              <a:srgbClr val="EFF4F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/incidents/{id}/respond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400800" y="3163824"/>
            <a:ext cx="3977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/threat-intel/reputation/{indicator}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00800" y="3602736"/>
            <a:ext cx="3977640" cy="292608"/>
          </a:xfrm>
          <a:prstGeom prst="rect">
            <a:avLst/>
          </a:prstGeom>
          <a:solidFill>
            <a:srgbClr val="EFF4FB"/>
          </a:solidFill>
          <a:ln w="12700">
            <a:solidFill>
              <a:srgbClr val="EFF4F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transition endpoints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1097280" y="5349240"/>
            <a:ext cx="9966960" cy="53035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choices keep the demo runnable while documenting production extensions such as PostgreSQL, Redis, WebSockets/SSE, RabbitMQ, or Kafka.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STRUCTURAL AND BEHAVIORAL 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UML Diagrams &amp; Demo 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8346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Class Diagram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8346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Pattern classes, interfaces, associations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4389120" y="1600200"/>
            <a:ext cx="28346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Component Diagram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947672"/>
            <a:ext cx="28346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SOA services and EventBus boundaries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7955280" y="1600200"/>
            <a:ext cx="28346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Sequence Diagram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1947672"/>
            <a:ext cx="28346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Alert ingestion + enrichment flow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2560320" y="3794760"/>
            <a:ext cx="28346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Sequence Diagram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142232"/>
            <a:ext cx="28346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Incident response orchestration flow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400800" y="3794760"/>
            <a:ext cx="2834640" cy="320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State Machine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142232"/>
            <a:ext cx="28346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Incident lifecycle transitions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051560" y="55778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</a:rPr>
              <a:t>Demo output validates every stage with labelled console messages and confirms the working Java pipeline.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WHAT SDA-PRO SUCCESSFULLY DEMONSTRATES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</a:rPr>
              <a:t>Final Summary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2870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SDA-Pro is a complete academic architecture prototype for security incident response. It combines clear service boundaries, multiple architecture styles, documented ADRs, formal APIs, UML diagrams, and a working Java demonstration.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all required architecture styles represented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6344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12 design patterns implemented and exercised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7532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75320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end-to-end console demo available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88720" y="5257800"/>
            <a:ext cx="9784080" cy="566928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Each design decision can be explained through code, UML, ADRs, and demo output.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SDA-Pro | SE3213 Software Design &amp; Architecture | Spring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A4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1197</Words>
  <Application>Microsoft Office PowerPoint</Application>
  <PresentationFormat>Widescreen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Riphah International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SDA-Pro Final Presentation</dc:title>
  <dc:subject>SDA-Pro Security Incident Response &amp; Threat Mitigation Platform</dc:subject>
  <dc:creator>Hassan Zahid</dc:creator>
  <cp:lastModifiedBy>WaHAb KhAN</cp:lastModifiedBy>
  <cp:revision>2</cp:revision>
  <dcterms:created xsi:type="dcterms:W3CDTF">2026-06-01T14:27:27Z</dcterms:created>
  <dcterms:modified xsi:type="dcterms:W3CDTF">2026-06-01T14:37:29Z</dcterms:modified>
</cp:coreProperties>
</file>